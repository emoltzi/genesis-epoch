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8680" y="1481328"/>
            <a:ext cx="50292" cy="1417320"/>
          </a:xfrm>
          <a:prstGeom prst="rect">
            <a:avLst/>
          </a:prstGeom>
          <a:solidFill>
            <a:srgbClr val="F5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8778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80">
                <a:solidFill>
                  <a:srgbClr val="9FB0D0"/>
                </a:solidFill>
                <a:latin typeface="微软雅黑"/>
              </a:rPr>
              <a:t>2026 · 第十四届全国大学生数字媒体科技作品及创意竞赛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8778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60">
                <a:solidFill>
                  <a:srgbClr val="6F7A96"/>
                </a:solidFill>
                <a:latin typeface="微软雅黑"/>
              </a:rPr>
              <a:t>指定命题「科幻+及元宇宙数字作品」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86000"/>
            <a:ext cx="8229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000" b="1">
                <a:solidFill>
                  <a:srgbClr val="F4F6FB"/>
                </a:solidFill>
                <a:latin typeface="微软雅黑"/>
              </a:rPr>
              <a:t>创世纪元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spc="260">
                <a:solidFill>
                  <a:srgbClr val="F5C66B"/>
                </a:solidFill>
                <a:latin typeface="微软雅黑"/>
              </a:rPr>
              <a:t>AI 文明诞生概率实验室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986784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spc="280">
                <a:solidFill>
                  <a:srgbClr val="3FF2E6"/>
                </a:solidFill>
                <a:latin typeface="微软雅黑"/>
              </a:rPr>
              <a:t>GENESIS EPOCH · AI CIVILIZATION PROBABILITY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30368"/>
            <a:ext cx="8778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F4F6FB"/>
                </a:solidFill>
                <a:latin typeface="微软雅黑"/>
              </a:rPr>
              <a:t>你对规律的认识，决定你能改变宇宙的哪一层。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命题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宇宙如此广阔，我们为什么至今没有发现外星人？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0D0"/>
                </a:solidFill>
                <a:latin typeface="微软雅黑"/>
              </a:rPr>
              <a:t>作品把它拆成两个问题分别回答，答案都落在可调、可算的参量上。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40280"/>
            <a:ext cx="5120640" cy="3063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45720" cy="3063240"/>
          </a:xfrm>
          <a:prstGeom prst="rect">
            <a:avLst/>
          </a:prstGeom>
          <a:solidFill>
            <a:srgbClr val="F5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spc="150">
                <a:solidFill>
                  <a:srgbClr val="F5C66B"/>
                </a:solidFill>
                <a:latin typeface="微软雅黑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4F6FB"/>
                </a:solidFill>
                <a:latin typeface="微软雅黑"/>
              </a:rPr>
              <a:t>宇宙为什么允许生命存在？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9FB0D0"/>
                </a:solidFill>
                <a:latin typeface="微软雅黑"/>
              </a:rPr>
              <a:t>物理常数只要偏移一点——强相互作用超过约 0.5%，恒星就几乎造不出碳或氧，生命所需的原料不存在。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240280"/>
            <a:ext cx="5120640" cy="3063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240280"/>
            <a:ext cx="45720" cy="3063240"/>
          </a:xfrm>
          <a:prstGeom prst="rect">
            <a:avLst/>
          </a:prstGeom>
          <a:solidFill>
            <a:srgbClr val="A4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48716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 spc="150">
                <a:solidFill>
                  <a:srgbClr val="A497FF"/>
                </a:solidFill>
                <a:latin typeface="微软雅黑"/>
              </a:rPr>
              <a:t>L1 – L4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78892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4F6FB"/>
                </a:solidFill>
                <a:latin typeface="微软雅黑"/>
              </a:rPr>
              <a:t>银河系为什么一片寂静？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20440"/>
            <a:ext cx="4434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9FB0D0"/>
                </a:solidFill>
                <a:latin typeface="微软雅黑"/>
              </a:rPr>
              <a:t>行星、生命、文明逐层筛选；参数空间里能走到文明层的比例只有 5.6 × 10⁻⁶，我们确实站在一条窄缝里。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235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3FF2E6"/>
                </a:solidFill>
                <a:latin typeface="微软雅黑"/>
              </a:rPr>
              <a:t>把“稀有”从一句感慨，变成可以亲手操作的实验。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一座可以亲手操作的宇宙实验室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调节参量 → 引擎推演 → 判定这一层能否走过；失败即熄灭，可回溯改写。</a:t>
            </a:r>
          </a:p>
        </p:txBody>
      </p:sp>
      <p:pic>
        <p:nvPicPr>
          <p:cNvPr id="7" name="Picture 6" descr="s02_console.png"/>
          <p:cNvPicPr>
            <a:picLocks noChangeAspect="1"/>
          </p:cNvPicPr>
          <p:nvPr/>
        </p:nvPicPr>
        <p:blipFill>
          <a:blip r:embed="rId2"/>
          <a:srcRect l="2187" r="2187"/>
          <a:stretch>
            <a:fillRect/>
          </a:stretch>
        </p:blipFill>
        <p:spPr>
          <a:xfrm>
            <a:off x="5989320" y="1783080"/>
            <a:ext cx="5440680" cy="320040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77240" y="19659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6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328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因果筛选链
常数 → 文明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9659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29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 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5328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参数注册表
含出处与置信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96596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63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 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53288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单元测试
公式与可复现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18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5:10</a:t>
            </a:r>
            <a:r>
              <a:rPr sz="1100" b="0">
                <a:solidFill>
                  <a:srgbClr val="F5C66B"/>
                </a:solidFill>
                <a:latin typeface="微软雅黑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7880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导览模式
自动走完全片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6118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1.7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17880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单文件离线
双击即可运行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611880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0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 依赖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178808"/>
            <a:ext cx="1600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运行时零请求
字体影像内联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74920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FF2E6"/>
                </a:solidFill>
                <a:latin typeface="微软雅黑"/>
              </a:rPr>
              <a:t>作品不是一段预渲染的动画：你改的每一个参量，都由本机的确定性引擎当场重算。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右侧为参数台：任何一幕都能打开，六层判定与行星外观实时更新。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六层宇宙：一条会断的因果链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每一层都有自己的参量、判定与文献依据；任一层偏离，链条就在那一层断裂。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572768" cy="41148"/>
          </a:xfrm>
          <a:prstGeom prst="rect">
            <a:avLst/>
          </a:prstGeom>
          <a:solidFill>
            <a:srgbClr val="F5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F5C66B"/>
                </a:solidFill>
                <a:latin typeface="微软雅黑"/>
              </a:rPr>
              <a:t>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物理常数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3.1 × 10⁻²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9464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9464" y="2286000"/>
            <a:ext cx="1572768" cy="41148"/>
          </a:xfrm>
          <a:prstGeom prst="rect">
            <a:avLst/>
          </a:prstGeom>
          <a:solidFill>
            <a:srgbClr val="F5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4056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F5C66B"/>
                </a:solidFill>
                <a:latin typeface="微软雅黑"/>
              </a:rPr>
              <a:t>L1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4056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天体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4056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9.2 × 10⁻⁴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2286000"/>
            <a:ext cx="1572768" cy="41148"/>
          </a:xfrm>
          <a:prstGeom prst="rect">
            <a:avLst/>
          </a:prstGeom>
          <a:solidFill>
            <a:srgbClr val="F5C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F5C66B"/>
                </a:solidFill>
                <a:latin typeface="微软雅黑"/>
              </a:rPr>
              <a:t>L2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行星化学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79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8.3 × 10⁻⁵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53912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53912" y="2286000"/>
            <a:ext cx="1572768" cy="41148"/>
          </a:xfrm>
          <a:prstGeom prst="rect">
            <a:avLst/>
          </a:prstGeom>
          <a:solidFill>
            <a:srgbClr val="A4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3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A497FF"/>
                </a:solidFill>
                <a:latin typeface="微软雅黑"/>
              </a:rPr>
              <a:t>L3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3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生命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3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1.1 × 10⁻⁵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46136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46136" y="2286000"/>
            <a:ext cx="1572768" cy="41148"/>
          </a:xfrm>
          <a:prstGeom prst="rect">
            <a:avLst/>
          </a:prstGeom>
          <a:solidFill>
            <a:srgbClr val="A4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10727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A497FF"/>
                </a:solidFill>
                <a:latin typeface="微软雅黑"/>
              </a:rPr>
              <a:t>L4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0727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文明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0727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5.6 × 10⁻⁶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38360" y="2286000"/>
            <a:ext cx="1572768" cy="19202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8360" y="2286000"/>
            <a:ext cx="1572768" cy="41148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2952" y="2468880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 spc="150">
                <a:solidFill>
                  <a:srgbClr val="3FF2E6"/>
                </a:solidFill>
                <a:latin typeface="微软雅黑"/>
              </a:rPr>
              <a:t>L5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02952" y="2761488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F4F6FB"/>
                </a:solidFill>
                <a:latin typeface="微软雅黑"/>
              </a:rPr>
              <a:t>未来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2952" y="3456432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四参量情景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4348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>
                <a:solidFill>
                  <a:srgbClr val="6F7A96"/>
                </a:solidFill>
                <a:latin typeface="微软雅黑"/>
              </a:rPr>
              <a:t>逐层通过比例（12 000 次参数空间抽样，causal.survivalLadder）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8920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9FB0D0"/>
                </a:solidFill>
                <a:latin typeface="微软雅黑"/>
              </a:rPr>
              <a:t>每一次断裂都写成一条编年史，收进“文明墓园”；同一个宇宙编号，永远得到同一部历史。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4F6FB"/>
                </a:solidFill>
                <a:latin typeface="微软雅黑"/>
              </a:rPr>
              <a:t>失败不是终点——它是这个宇宙唯一的、可复现的结局。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知识即权限：理解了，才能改变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五档认知坐标决定讲解深度与可改动的参量；层级之间用钥匙串联。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1">
                <a:solidFill>
                  <a:srgbClr val="F4F6FB"/>
                </a:solidFill>
                <a:latin typeface="微软雅黑"/>
              </a:rPr>
              <a:t>见习观测员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87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约小学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75688" y="210312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1">
                <a:solidFill>
                  <a:srgbClr val="F4F6FB"/>
                </a:solidFill>
                <a:latin typeface="微软雅黑"/>
              </a:rPr>
              <a:t>助理观测员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587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约初中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210312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3FF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1">
                <a:solidFill>
                  <a:srgbClr val="F4F6FB"/>
                </a:solidFill>
                <a:latin typeface="微软雅黑"/>
              </a:rPr>
              <a:t>观测员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587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约高中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72583" y="210312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2583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1">
                <a:solidFill>
                  <a:srgbClr val="F4F6FB"/>
                </a:solidFill>
                <a:latin typeface="微软雅黑"/>
              </a:rPr>
              <a:t>研究员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3" y="2587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约本科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71031" y="2103120"/>
            <a:ext cx="1188720" cy="8686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1" y="22494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050" b="1">
                <a:solidFill>
                  <a:srgbClr val="F4F6FB"/>
                </a:solidFill>
                <a:latin typeface="微软雅黑"/>
              </a:rPr>
              <a:t>首席科学家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2587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约硕士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5468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9FB0D0"/>
                </a:solidFill>
                <a:latin typeface="微软雅黑"/>
              </a:rPr>
              <a:t>认知校准完成时点亮对应的钥匙；没有钥匙的层级先看后果，读完顿悟卡再解锁。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657600"/>
            <a:ext cx="1975104" cy="12344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星辰之钥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206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轨道与宜居带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16936" y="3657600"/>
            <a:ext cx="1975104" cy="12344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9816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元素之钥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9816" y="4206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碳–硅酸盐循环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6631" y="3657600"/>
            <a:ext cx="1975104" cy="12344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39512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生命之钥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9512" y="4206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撞击与灭绝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96327" y="3657600"/>
            <a:ext cx="1975104" cy="12344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7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文明之钥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9207" y="4206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合作与制度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6024" y="3657600"/>
            <a:ext cx="1975104" cy="12344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18903" y="384048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本源之钥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18903" y="4206240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物理常数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257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F4F6FB"/>
                </a:solidFill>
                <a:latin typeface="微软雅黑"/>
              </a:rPr>
              <a:t>“理解到了哪一层，才能改写哪一层。”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第①幕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精细调节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大爆炸 → 宇宙网 → 第一代恒星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拖动精细结构常数与强相互作用强度，看宇宙落在“可行孤岛”的哪一处。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强相互作用偏移 0.5%，恒星几乎造不出碳或氧。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本源之钥在此封印：第一次旅程，常数不可改。</a:t>
            </a:r>
          </a:p>
        </p:txBody>
      </p:sp>
      <p:pic>
        <p:nvPicPr>
          <p:cNvPr id="8" name="Picture 7" descr="s03_origin.png"/>
          <p:cNvPicPr>
            <a:picLocks noChangeAspect="1"/>
          </p:cNvPicPr>
          <p:nvPr/>
        </p:nvPicPr>
        <p:blipFill>
          <a:blip r:embed="rId2"/>
          <a:srcRect l="47" r="47"/>
          <a:stretch>
            <a:fillRect/>
          </a:stretch>
        </p:blipFill>
        <p:spPr>
          <a:xfrm>
            <a:off x="5989320" y="1783080"/>
            <a:ext cx="5440680" cy="306324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98932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强相互作用偏移上限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10²⁵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宇宙网尺度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第②幕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宜居带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轨道一动，海洋生死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把轨道推到 2.4 AU，平衡温度跌到 164.3 K，行星冰封，链条在 L1 断裂。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移回 1 AU：254.6 K，液态水出现，整条因果链重新接通。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保守宜居带 0.993–1.676 AU 实时标注在图上。</a:t>
            </a:r>
          </a:p>
        </p:txBody>
      </p:sp>
      <p:pic>
        <p:nvPicPr>
          <p:cNvPr id="8" name="Picture 7" descr="s04_stars.png"/>
          <p:cNvPicPr>
            <a:picLocks noChangeAspect="1"/>
          </p:cNvPicPr>
          <p:nvPr/>
        </p:nvPicPr>
        <p:blipFill>
          <a:blip r:embed="rId2"/>
          <a:srcRect l="47" r="47"/>
          <a:stretch>
            <a:fillRect/>
          </a:stretch>
        </p:blipFill>
        <p:spPr>
          <a:xfrm>
            <a:off x="5989320" y="1783080"/>
            <a:ext cx="5440680" cy="306324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98932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164.3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2.4 AU 平衡温度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0.99–1.68 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保守宜居带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第③幕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碳–硅酸盐循环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一台看不见的行星恒温器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火山补充 CO₂，岩石风化把它埋进海底；越热风化越快，升温被削掉一半。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恒星变亮 +20 K 时，有负反馈只升温 9.7 K。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让风化停摆：二氧化碳只进不出，进入失控温室。</a:t>
            </a:r>
          </a:p>
        </p:txBody>
      </p:sp>
      <p:pic>
        <p:nvPicPr>
          <p:cNvPr id="8" name="Picture 7" descr="s05_elements.png"/>
          <p:cNvPicPr>
            <a:picLocks noChangeAspect="1"/>
          </p:cNvPicPr>
          <p:nvPr/>
        </p:nvPicPr>
        <p:blipFill>
          <a:blip r:embed="rId2"/>
          <a:srcRect l="47" r="47"/>
          <a:stretch>
            <a:fillRect/>
          </a:stretch>
        </p:blipFill>
        <p:spPr>
          <a:xfrm>
            <a:off x="5989320" y="1783080"/>
            <a:ext cx="5440680" cy="306324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98932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9.7 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有反馈的升温（无反馈 20 K）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×1.05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稳态 CO₂ 浓度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第④幕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演化与大灭绝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落点决定谁能留下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6600 万年前，一颗十公里级小行星飞向地球，落点不同，历史不同。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只有约 13% 的地表富含碳氢化合物与硫，撞在那里烟尘才会遮住天空。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默认推演落在普通岩层：恐龙延续，人类不会出现。</a:t>
            </a:r>
          </a:p>
        </p:txBody>
      </p:sp>
      <p:pic>
        <p:nvPicPr>
          <p:cNvPr id="8" name="Picture 7" descr="s06_life.png"/>
          <p:cNvPicPr>
            <a:picLocks noChangeAspect="1"/>
          </p:cNvPicPr>
          <p:nvPr/>
        </p:nvPicPr>
        <p:blipFill>
          <a:blip r:embed="rId2"/>
          <a:srcRect l="47" r="47"/>
          <a:stretch>
            <a:fillRect/>
          </a:stretch>
        </p:blipFill>
        <p:spPr>
          <a:xfrm>
            <a:off x="5989320" y="1783080"/>
            <a:ext cx="5440680" cy="306324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98932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13.0%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能引发大灭绝的地表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9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球冠标定的沉积区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第⑤幕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文明动力学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数百座聚落，自己写历史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8463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聚落耕作、拓殖、通商；战争与瘟疫沿边境与商路蔓延。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生产力与生产关系的矛盾在每个政体内积累，越过阈值即社会形态更替。</a:t>
            </a:r>
          </a:p>
          <a:p>
            <a:pPr>
              <a:lnSpc>
                <a:spcPct val="142000"/>
              </a:lnSpc>
              <a:spcAft>
                <a:spcPts val="1300"/>
              </a:spcAft>
            </a:pPr>
            <a:r>
              <a:rPr sz="120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200" b="0">
                <a:solidFill>
                  <a:srgbClr val="9FB0D0"/>
                </a:solidFill>
                <a:latin typeface="微软雅黑"/>
              </a:rPr>
              <a:t>合作 0.6 存活 54%，0.9 升到 77%，0.3 跌到 37%。</a:t>
            </a:r>
          </a:p>
        </p:txBody>
      </p:sp>
      <p:pic>
        <p:nvPicPr>
          <p:cNvPr id="8" name="Picture 7" descr="s07_civ.png"/>
          <p:cNvPicPr>
            <a:picLocks noChangeAspect="1"/>
          </p:cNvPicPr>
          <p:nvPr/>
        </p:nvPicPr>
        <p:blipFill>
          <a:blip r:embed="rId2"/>
          <a:srcRect l="47" r="47"/>
          <a:stretch>
            <a:fillRect/>
          </a:stretch>
        </p:blipFill>
        <p:spPr>
          <a:xfrm>
            <a:off x="5989320" y="1783080"/>
            <a:ext cx="5440680" cy="306324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98932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9048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54% → 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048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合作 0.6 → 0.9 的存活率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5029200"/>
            <a:ext cx="2651760" cy="9601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79408" y="5175504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>
                <a:solidFill>
                  <a:srgbClr val="F5C66B"/>
                </a:solidFill>
                <a:latin typeface="微软雅黑"/>
              </a:rPr>
              <a:t>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560527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每次估计的平行宇宙数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四张图，四种证据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全部由作品引擎计算、Python 绘制，可由源码复现。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166360" cy="2011680"/>
          </a:xfrm>
          <a:prstGeom prst="roundRect">
            <a:avLst>
              <a:gd name="adj" fmla="val 3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02_l0_is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0558" y="1856231"/>
            <a:ext cx="3059723" cy="15910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1832" y="350215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图 1　可行孤岛：α 与 αs 平面上能留下碳氧的区域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83080"/>
            <a:ext cx="5166360" cy="2011680"/>
          </a:xfrm>
          <a:prstGeom prst="roundRect">
            <a:avLst>
              <a:gd name="adj" fmla="val 3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03_l1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765" y="1856231"/>
            <a:ext cx="2983230" cy="15910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36792" y="350215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图 2　宜居带：轨道半长轴 × 恒星质量的相位图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5166360" cy="2011680"/>
          </a:xfrm>
          <a:prstGeom prst="roundRect">
            <a:avLst>
              <a:gd name="adj" fmla="val 3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fig04_thermost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05072"/>
            <a:ext cx="3977639" cy="1591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1832" y="565099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图 3　恒温器：有/无负反馈时的升温路径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166360" cy="2011680"/>
          </a:xfrm>
          <a:prstGeom prst="roundRect">
            <a:avLst>
              <a:gd name="adj" fmla="val 3000"/>
            </a:avLst>
          </a:prstGeom>
          <a:solidFill>
            <a:srgbClr val="0D122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05_kp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771" y="4005072"/>
            <a:ext cx="3341217" cy="15910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36792" y="5650992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9FB0D0"/>
                </a:solidFill>
                <a:latin typeface="微软雅黑"/>
              </a:rPr>
              <a:t>图 4　K-Pg 沉积区：9 个球冠并集标定到地表 13.0%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终章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费米悖论：一万个宇宙，与此刻的地球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把同一场实验做一万次，看有多少银河系至今沉默。</a:t>
            </a:r>
          </a:p>
        </p:txBody>
      </p:sp>
      <p:pic>
        <p:nvPicPr>
          <p:cNvPr id="7" name="Picture 6" descr="s10_finale.png"/>
          <p:cNvPicPr>
            <a:picLocks noChangeAspect="1"/>
          </p:cNvPicPr>
          <p:nvPr/>
        </p:nvPicPr>
        <p:blipFill>
          <a:blip r:embed="rId2"/>
          <a:srcRect l="88" r="88"/>
          <a:stretch>
            <a:fillRect/>
          </a:stretch>
        </p:blipFill>
        <p:spPr>
          <a:xfrm>
            <a:off x="777240" y="1828800"/>
            <a:ext cx="5760720" cy="324612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pic>
        <p:nvPicPr>
          <p:cNvPr id="8" name="Picture 7" descr="fig06_dr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799705"/>
            <a:ext cx="4572000" cy="2161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41605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51.6</a:t>
            </a:r>
            <a:r>
              <a:rPr sz="1100" b="0">
                <a:solidFill>
                  <a:srgbClr val="F5C66B"/>
                </a:solidFill>
                <a:latin typeface="微软雅黑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7274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银河系里找不到
第二个技术文明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416052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5C66B"/>
                </a:solidFill>
                <a:latin typeface="微软雅黑"/>
              </a:rPr>
              <a:t>10⁴</a:t>
            </a:r>
            <a:r>
              <a:rPr sz="1100" b="0">
                <a:solidFill>
                  <a:srgbClr val="F5C66B"/>
                </a:solidFill>
                <a:latin typeface="微软雅黑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4727448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德雷克方程抽样
不确定性如实传播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4924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3FF2E6"/>
                </a:solidFill>
                <a:latin typeface="微软雅黑"/>
              </a:rPr>
              <a:t>在这片寂静里，有一个确定的样本——这不是模拟，这是此刻的地球。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确定性内核 + 智能外壳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大模型只提议，校验闸门把关，所有数值由推演引擎计算。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675120" cy="585216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2938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体验层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195681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章节导演 · 导览/自由模式 · 认知坐标 · 观测档案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96312"/>
            <a:ext cx="6675120" cy="585216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4261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表现层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670048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Three.js 场景 · 程序化着色器 · Web Audio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09544"/>
            <a:ext cx="6675120" cy="585216"/>
          </a:xfrm>
          <a:prstGeom prst="roundRect">
            <a:avLst>
              <a:gd name="adj" fmla="val 4000"/>
            </a:avLst>
          </a:prstGeom>
          <a:solidFill>
            <a:srgbClr val="1A1436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35584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3FF2E6"/>
                </a:solidFill>
                <a:latin typeface="微软雅黑"/>
              </a:rPr>
              <a:t>智能层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38327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意图解析 · 校验闸门 · 检索增强 · 离线兜底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22776"/>
            <a:ext cx="6675120" cy="585216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06908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模拟层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09651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纯函数推演引擎（不依赖界面与渲染）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636008"/>
            <a:ext cx="6675120" cy="585216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78231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数据层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80974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参数注册表 · 理论库 · 知识卡 · 旁白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783080"/>
            <a:ext cx="3611880" cy="173736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9659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提议 → 闸门 → 裁决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377440"/>
            <a:ext cx="31546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参数必须在注册表中、类型正确、落在范围内、观众持有钥匙；一次最多 4 项。越界夹回并说明。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749039"/>
            <a:ext cx="3611880" cy="169164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一份数据，多处使用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343400"/>
            <a:ext cx="3154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参数注册表同时驱动滑杆、判定、LLM 校验与文档生成，杜绝“文档与代码对不上”。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每个数字都能复算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模型是示意性的，但计算是真做的：纯函数、有单元测试、可由源码复现。</a:t>
            </a:r>
          </a:p>
        </p:txBody>
      </p:sp>
      <p:pic>
        <p:nvPicPr>
          <p:cNvPr id="7" name="Picture 6" descr="fig13_cau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5029200" cy="2560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828800"/>
            <a:ext cx="51206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2000"/>
              </a:lnSpc>
              <a:spcAft>
                <a:spcPts val="1400"/>
              </a:spcAft>
            </a:pPr>
            <a:r>
              <a:rPr sz="115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150" b="1">
                <a:solidFill>
                  <a:srgbClr val="F4F6FB"/>
                </a:solidFill>
                <a:latin typeface="微软雅黑"/>
              </a:rPr>
              <a:t>63 项单元测试</a:t>
            </a:r>
            <a:r>
              <a:rPr sz="1150" b="0">
                <a:solidFill>
                  <a:srgbClr val="9FB0D0"/>
                </a:solidFill>
                <a:latin typeface="微软雅黑"/>
              </a:rPr>
              <a:t>：公式数值、逐层判定、ABM 确定性、闸门拒绝规则。</a:t>
            </a:r>
          </a:p>
          <a:p>
            <a:pPr>
              <a:lnSpc>
                <a:spcPct val="142000"/>
              </a:lnSpc>
              <a:spcAft>
                <a:spcPts val="1400"/>
              </a:spcAft>
            </a:pPr>
            <a:r>
              <a:rPr sz="115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150" b="1">
                <a:solidFill>
                  <a:srgbClr val="F5C66B"/>
                </a:solidFill>
                <a:latin typeface="微软雅黑"/>
              </a:rPr>
              <a:t>13.0%</a:t>
            </a:r>
            <a:r>
              <a:rPr sz="1150" b="0">
                <a:solidFill>
                  <a:srgbClr val="9FB0D0"/>
                </a:solidFill>
                <a:latin typeface="微软雅黑"/>
              </a:rPr>
              <a:t> 的 K-Pg 沉积区用 4 万个采样点标定，与文献一致。</a:t>
            </a:r>
          </a:p>
          <a:p>
            <a:pPr>
              <a:lnSpc>
                <a:spcPct val="142000"/>
              </a:lnSpc>
              <a:spcAft>
                <a:spcPts val="1400"/>
              </a:spcAft>
            </a:pPr>
            <a:r>
              <a:rPr sz="115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150" b="1">
                <a:solidFill>
                  <a:srgbClr val="F5C66B"/>
                </a:solidFill>
                <a:latin typeface="微软雅黑"/>
              </a:rPr>
              <a:t>51.6%</a:t>
            </a:r>
            <a:r>
              <a:rPr sz="1150" b="0">
                <a:solidFill>
                  <a:srgbClr val="9FB0D0"/>
                </a:solidFill>
                <a:latin typeface="微软雅黑"/>
              </a:rPr>
              <a:t> 由 10 000 次蒙特卡洛抽样得到，不是写死的文案。</a:t>
            </a:r>
          </a:p>
          <a:p>
            <a:pPr>
              <a:lnSpc>
                <a:spcPct val="142000"/>
              </a:lnSpc>
              <a:spcAft>
                <a:spcPts val="1400"/>
              </a:spcAft>
            </a:pPr>
            <a:r>
              <a:rPr sz="1150" b="1">
                <a:solidFill>
                  <a:srgbClr val="3FF2E6"/>
                </a:solidFill>
                <a:latin typeface="微软雅黑"/>
              </a:rPr>
              <a:t>· </a:t>
            </a:r>
            <a:r>
              <a:rPr sz="1150" b="1">
                <a:solidFill>
                  <a:srgbClr val="F4F6FB"/>
                </a:solidFill>
                <a:latin typeface="微软雅黑"/>
              </a:rPr>
              <a:t>三条命令复现</a:t>
            </a:r>
            <a:r>
              <a:rPr sz="1150" b="0">
                <a:solidFill>
                  <a:srgbClr val="9FB0D0"/>
                </a:solidFill>
                <a:latin typeface="微软雅黑"/>
              </a:rPr>
              <a:t>：npm test / npm run build / npm run docs。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5212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FF2E6"/>
                </a:solidFill>
                <a:latin typeface="微软雅黑"/>
              </a:rPr>
              <a:t>同一宇宙编号，永远得到同一部编年史——评委可以交叉核对。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工程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一个 HTML 文件，双击就能跑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81328"/>
            <a:ext cx="106070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>
                <a:solidFill>
                  <a:srgbClr val="9FB0D0"/>
                </a:solidFill>
                <a:latin typeface="微软雅黑"/>
              </a:rPr>
              <a:t>展厅、机房、教室都不一定联网，所以作品把一切都带在身上。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029200" cy="173736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391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F5C66B"/>
                </a:solidFill>
                <a:latin typeface="微软雅黑"/>
              </a:rPr>
              <a:t>1.7 MB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单文件交付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517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脚本、字体子集、NASA 影像、worker 全部内联；运行时零网络请求。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83080"/>
            <a:ext cx="5029200" cy="173736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03911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F5C66B"/>
                </a:solidFill>
                <a:latin typeface="微软雅黑"/>
              </a:rPr>
              <a:t>0 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084831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运行时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65176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不加载任何 CDN；three.js 打包进同一个文件。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794760"/>
            <a:ext cx="5029200" cy="173736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0507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F5C66B"/>
                </a:solidFill>
                <a:latin typeface="微软雅黑"/>
              </a:rPr>
              <a:t>3 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0965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画质自适应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6634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连续两秒低于 38 fps 自动降档；离屏暂停渲染。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94760"/>
            <a:ext cx="5029200" cy="173736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050792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>
                <a:solidFill>
                  <a:srgbClr val="F5C66B"/>
                </a:solidFill>
                <a:latin typeface="微软雅黑"/>
              </a:rPr>
              <a:t>1 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0965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F4F6FB"/>
                </a:solidFill>
                <a:latin typeface="微软雅黑"/>
              </a:rPr>
              <a:t>构建命令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66344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npm run build：类型检查后产出单个 HTML，约 470 毫秒。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四个不只是“好看”的设计决定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029200" cy="17830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842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3FF2E6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200253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4F6FB"/>
                </a:solidFill>
                <a:latin typeface="微软雅黑"/>
              </a:rPr>
              <a:t>知识即权限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2432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用钥匙机制组织整场体验：理解了才能改，学习成为探索的动力。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029200" cy="17830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842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F5C66B"/>
                </a:solidFill>
                <a:latin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200253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4F6FB"/>
                </a:solidFill>
                <a:latin typeface="微软雅黑"/>
              </a:rPr>
              <a:t>真实模型驱动叙事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2432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每一次失败都来自引擎计算结果，可复现、可核验，不是预设动画。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0480"/>
            <a:ext cx="5029200" cy="17830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0416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A497FF"/>
                </a:solidFill>
                <a:latin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405993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4F6FB"/>
                </a:solidFill>
                <a:latin typeface="微软雅黑"/>
              </a:rPr>
              <a:t>LLM 提议，模型裁决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68172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大模型无法编造数字；闸门与离线兜底让 AI 交互既开放又可靠。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40480"/>
            <a:ext cx="5029200" cy="178308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04164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3FF2E6"/>
                </a:solidFill>
                <a:latin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059936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>
                <a:solidFill>
                  <a:srgbClr val="F4F6FB"/>
                </a:solidFill>
                <a:latin typeface="微软雅黑"/>
              </a:rPr>
              <a:t>理论落到机制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68172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生产力与生产关系、必然与偶然、历史合力，都做成可操作的参量。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同一件作品，四种打开方式</a:t>
            </a:r>
          </a:p>
        </p:txBody>
      </p:sp>
      <p:pic>
        <p:nvPicPr>
          <p:cNvPr id="6" name="Picture 5" descr="s01_hall.png"/>
          <p:cNvPicPr>
            <a:picLocks noChangeAspect="1"/>
          </p:cNvPicPr>
          <p:nvPr/>
        </p:nvPicPr>
        <p:blipFill>
          <a:blip r:embed="rId2"/>
          <a:srcRect l="16642" r="16642"/>
          <a:stretch>
            <a:fillRect/>
          </a:stretch>
        </p:blipFill>
        <p:spPr>
          <a:xfrm>
            <a:off x="777240" y="1737360"/>
            <a:ext cx="2331720" cy="196596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291840" y="184708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科技馆 · 天文馆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267712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导览模式 5 分 10 秒自动播放，大屏循环；自由模式适合触摸屏展台。</a:t>
            </a:r>
          </a:p>
        </p:txBody>
      </p:sp>
      <p:pic>
        <p:nvPicPr>
          <p:cNvPr id="9" name="Picture 8" descr="s11_glossary.png"/>
          <p:cNvPicPr>
            <a:picLocks noChangeAspect="1"/>
          </p:cNvPicPr>
          <p:nvPr/>
        </p:nvPicPr>
        <p:blipFill>
          <a:blip r:embed="rId3"/>
          <a:srcRect l="16642" r="16642"/>
          <a:stretch>
            <a:fillRect/>
          </a:stretch>
        </p:blipFill>
        <p:spPr>
          <a:xfrm>
            <a:off x="6217920" y="1737360"/>
            <a:ext cx="2331720" cy="196596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732520" y="184708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课堂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67712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按学段分五档讲解深度，同一现象对不同年级给不同解释。</a:t>
            </a:r>
          </a:p>
        </p:txBody>
      </p:sp>
      <p:pic>
        <p:nvPicPr>
          <p:cNvPr id="12" name="Picture 11" descr="s09_civ_night.png"/>
          <p:cNvPicPr>
            <a:picLocks noChangeAspect="1"/>
          </p:cNvPicPr>
          <p:nvPr/>
        </p:nvPicPr>
        <p:blipFill>
          <a:blip r:embed="rId4"/>
          <a:srcRect l="16642" r="16642"/>
          <a:stretch>
            <a:fillRect/>
          </a:stretch>
        </p:blipFill>
        <p:spPr>
          <a:xfrm>
            <a:off x="777240" y="3931920"/>
            <a:ext cx="2331720" cy="196596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291840" y="40416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思政课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4462272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第⑤幕与终章讨论“必然与自由”“人与自然”。</a:t>
            </a:r>
          </a:p>
        </p:txBody>
      </p:sp>
      <p:pic>
        <p:nvPicPr>
          <p:cNvPr id="15" name="Picture 14" descr="s10_finale.png"/>
          <p:cNvPicPr>
            <a:picLocks noChangeAspect="1"/>
          </p:cNvPicPr>
          <p:nvPr/>
        </p:nvPicPr>
        <p:blipFill>
          <a:blip r:embed="rId5"/>
          <a:srcRect l="16642" r="16642"/>
          <a:stretch>
            <a:fillRect/>
          </a:stretch>
        </p:blipFill>
        <p:spPr>
          <a:xfrm>
            <a:off x="6217920" y="3931920"/>
            <a:ext cx="2331720" cy="1965960"/>
          </a:xfrm>
          <a:prstGeom prst="rect">
            <a:avLst/>
          </a:prstGeom>
          <a:ln w="9525">
            <a:solidFill>
              <a:srgbClr val="2A3655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8732520" y="404164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网络传播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4462272"/>
            <a:ext cx="24688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50" b="0">
                <a:solidFill>
                  <a:srgbClr val="9FB0D0"/>
                </a:solidFill>
                <a:latin typeface="微软雅黑"/>
              </a:rPr>
              <a:t>单文件即网页；留言化作一颗星，形成可分享的“我的宇宙”。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54864" cy="237744"/>
          </a:xfrm>
          <a:prstGeom prst="rect">
            <a:avLst/>
          </a:prstGeom>
          <a:solidFill>
            <a:srgbClr val="3F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5486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spc="200">
                <a:solidFill>
                  <a:srgbClr val="3FF2E6"/>
                </a:solidFill>
                <a:latin typeface="微软雅黑"/>
              </a:rPr>
              <a:t>分工与披露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1">
                <a:solidFill>
                  <a:srgbClr val="F4F6FB"/>
                </a:solidFill>
                <a:latin typeface="微软雅黑"/>
              </a:rPr>
              <a:t>团队做了什么，AI 做了什么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5120640" cy="14173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成员A（队长）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选题与作品方向、技术路线、五轮审计意见、章节与旁白审定、视频画面与解说口径。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37360"/>
            <a:ext cx="5120640" cy="1417320"/>
          </a:xfrm>
          <a:prstGeom prst="roundRect">
            <a:avLst>
              <a:gd name="adj" fmla="val 4000"/>
            </a:avLst>
          </a:prstGeom>
          <a:solidFill>
            <a:srgbClr val="0D12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920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F5C66B"/>
                </a:solidFill>
                <a:latin typeface="微软雅黑"/>
              </a:rPr>
              <a:t>成员B（队员）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31720"/>
            <a:ext cx="4663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内容与文案审校、参数与文献核对、测试验收与材料检查。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83280"/>
            <a:ext cx="10652760" cy="1417320"/>
          </a:xfrm>
          <a:prstGeom prst="roundRect">
            <a:avLst>
              <a:gd name="adj" fmla="val 4000"/>
            </a:avLst>
          </a:prstGeom>
          <a:solidFill>
            <a:srgbClr val="111830"/>
          </a:solidFill>
          <a:ln w="9525">
            <a:solidFill>
              <a:srgbClr val="1E2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>
                <a:solidFill>
                  <a:srgbClr val="3FF2E6"/>
                </a:solidFill>
                <a:latin typeface="微软雅黑"/>
              </a:rPr>
              <a:t>人工智能工具的使用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10195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9FB0D0"/>
                </a:solidFill>
                <a:latin typeface="微软雅黑"/>
              </a:rPr>
              <a:t>团队先人工搭框架、写示例，AI 按样板批量生成重复性代码，团队逐条校验；文档封面图由 ChatGPT 生成，演示视频解说由 Cloud TTS 合成。运行时的大模型只负责把问题翻译成参数提议，数值全部由引擎计算，详见《人工智能工具使用说明》。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206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6F7A96"/>
                </a:solidFill>
                <a:latin typeface="微软雅黑"/>
              </a:rPr>
              <a:t>以上分工与审计意见逐条记录在《决策日志》，可在源码仓库中核对。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6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ing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9FB0D0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4F6FB"/>
                </a:solidFill>
                <a:latin typeface="微软雅黑"/>
              </a:rPr>
              <a:t>文明诞生是低概率的奇迹；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>
                <a:solidFill>
                  <a:srgbClr val="F4F6FB"/>
                </a:solidFill>
                <a:latin typeface="微软雅黑"/>
              </a:rPr>
              <a:t>未来的钥匙，握在每一个人手里。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>
                <a:solidFill>
                  <a:srgbClr val="F5C66B"/>
                </a:solidFill>
                <a:latin typeface="微软雅黑"/>
              </a:rPr>
              <a:t>未来之钥，交给你。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>
                <a:solidFill>
                  <a:srgbClr val="9FB0D0"/>
                </a:solidFill>
                <a:latin typeface="微软雅黑"/>
              </a:rPr>
              <a:t>单文件 HTML，双击即可离线运行；导览约 5 分 10 秒。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6345936"/>
            <a:ext cx="10634472" cy="7315"/>
          </a:xfrm>
          <a:prstGeom prst="rect">
            <a:avLst/>
          </a:prstGeom>
          <a:solidFill>
            <a:srgbClr val="1E27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419088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创世纪元 · AI 文明诞生概率实验室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641908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850" b="0">
                <a:solidFill>
                  <a:srgbClr val="6F7A96"/>
                </a:solidFill>
                <a:latin typeface="微软雅黑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